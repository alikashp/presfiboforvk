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8" r:id="rId2"/>
    <p:sldId id="265" r:id="rId3"/>
    <p:sldId id="264" r:id="rId4"/>
    <p:sldId id="266" r:id="rId5"/>
    <p:sldId id="262" r:id="rId6"/>
    <p:sldId id="263" r:id="rId7"/>
  </p:sldIdLst>
  <p:sldSz cx="12192000" cy="6858000"/>
  <p:notesSz cx="6858000" cy="9144000"/>
  <p:embeddedFontLst>
    <p:embeddedFont>
      <p:font typeface="Core Sans C 35 Light" panose="020B0603030302020204"/>
      <p:regular r:id="rId8"/>
    </p:embeddedFont>
    <p:embeddedFont>
      <p:font typeface="Core Sans C 55 Medium" panose="020B0603030302020204"/>
      <p:regular r:id="rId9"/>
    </p:embeddedFont>
    <p:embeddedFont>
      <p:font typeface="Georgia" panose="02040502050405020303" pitchFamily="18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2" userDrawn="1">
          <p15:clr>
            <a:srgbClr val="A4A3A4"/>
          </p15:clr>
        </p15:guide>
        <p15:guide id="2" pos="72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60" y="192"/>
      </p:cViewPr>
      <p:guideLst>
        <p:guide orient="horz" pos="4042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31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6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0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79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7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9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2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28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80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819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10"/>
          </p:nvPr>
        </p:nvSpPr>
        <p:spPr>
          <a:xfrm>
            <a:off x="155340" y="6659709"/>
            <a:ext cx="12036660" cy="325987"/>
          </a:xfrm>
          <a:noFill/>
        </p:spPr>
        <p:txBody>
          <a:bodyPr rtlCol="0">
            <a:spAutoFit/>
          </a:bodyPr>
          <a:lstStyle>
            <a:lvl1pPr>
              <a:defRPr lang="ru-RU" sz="1687" b="1" kern="1200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1753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A4141-326E-4AAF-8E60-9A6756227554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FFEA4-1498-40E5-99BA-EBE648BA7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48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767353" y="3696131"/>
            <a:ext cx="10585137" cy="1383948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767354" y="1938372"/>
            <a:ext cx="10585137" cy="1383948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69" name="Rectangle 1"/>
          <p:cNvSpPr>
            <a:spLocks noGrp="1"/>
          </p:cNvSpPr>
          <p:nvPr>
            <p:ph type="title"/>
          </p:nvPr>
        </p:nvSpPr>
        <p:spPr>
          <a:xfrm>
            <a:off x="659894" y="289651"/>
            <a:ext cx="9809261" cy="1274910"/>
          </a:xfrm>
        </p:spPr>
        <p:txBody>
          <a:bodyPr anchor="ctr">
            <a:normAutofit/>
          </a:bodyPr>
          <a:lstStyle/>
          <a:p>
            <a:pPr eaLnBrk="1"/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  <a:sym typeface="Arial" panose="020B0604020202020204" pitchFamily="34" charset="0"/>
              </a:rPr>
              <a:t>Название вашего проекта</a:t>
            </a:r>
            <a:endParaRPr lang="ru-RU" altLang="ru-RU" sz="4000" dirty="0">
              <a:solidFill>
                <a:srgbClr val="00ABEB"/>
              </a:solidFill>
              <a:latin typeface="PT Sans" panose="020B0503020203020204" pitchFamily="34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2617953" y="2283890"/>
            <a:ext cx="8985162" cy="1038429"/>
          </a:xfrm>
        </p:spPr>
        <p:txBody>
          <a:bodyPr>
            <a:noAutofit/>
          </a:bodyPr>
          <a:lstStyle/>
          <a:p>
            <a:pPr marL="361950" indent="-361950">
              <a:lnSpc>
                <a:spcPct val="150000"/>
              </a:lnSpc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kumimoji="0"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краткое описание продукта и его ценности для клиентов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617954" y="4066987"/>
            <a:ext cx="6576846" cy="732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lnSpc>
                <a:spcPct val="150000"/>
              </a:lnSpc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целевая аудитория продукта </a:t>
            </a:r>
            <a:endParaRPr lang="en-US" altLang="ru-RU" sz="2200" dirty="0">
              <a:solidFill>
                <a:schemeClr val="tx1">
                  <a:lumMod val="65000"/>
                  <a:lumOff val="35000"/>
                </a:schemeClr>
              </a:solidFill>
              <a:latin typeface="PT Sans" panose="020B0503020203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95" y="2228000"/>
            <a:ext cx="815469" cy="81546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95" y="3972560"/>
            <a:ext cx="763917" cy="7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640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/>
          </p:cNvSpPr>
          <p:nvPr>
            <p:ph type="title"/>
          </p:nvPr>
        </p:nvSpPr>
        <p:spPr>
          <a:xfrm>
            <a:off x="659894" y="289651"/>
            <a:ext cx="9809261" cy="1274910"/>
          </a:xfrm>
        </p:spPr>
        <p:txBody>
          <a:bodyPr anchor="ctr">
            <a:normAutofit/>
          </a:bodyPr>
          <a:lstStyle/>
          <a:p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  <a:sym typeface="Arial" panose="020B0604020202020204" pitchFamily="34" charset="0"/>
              </a:rPr>
              <a:t>Кейсы использования продукта</a:t>
            </a:r>
            <a:endParaRPr lang="ru-RU" altLang="ru-RU" sz="4000" dirty="0">
              <a:solidFill>
                <a:srgbClr val="00ABEB"/>
              </a:solidFill>
              <a:latin typeface="PT Sans" panose="020B0503020203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CC110D-485E-4D59-B3D7-7A7FB7F9A14F}"/>
              </a:ext>
            </a:extLst>
          </p:cNvPr>
          <p:cNvSpPr/>
          <p:nvPr/>
        </p:nvSpPr>
        <p:spPr>
          <a:xfrm>
            <a:off x="779861" y="2033801"/>
            <a:ext cx="9356178" cy="1899008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349944C-1F75-4733-98D9-E92FBC7AC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8653" y="2271311"/>
            <a:ext cx="10244865" cy="1661498"/>
          </a:xfrm>
        </p:spPr>
        <p:txBody>
          <a:bodyPr>
            <a:normAutofit/>
          </a:bodyPr>
          <a:lstStyle/>
          <a:p>
            <a:pPr marL="361950" indent="-361950"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sym typeface="Helvetica Light" panose="020B0403020202020204" pitchFamily="34" charset="0"/>
              </a:rPr>
              <a:t>Опишите пример, как продукт используется и/или вы предполагаете, что будет использоваться клиентами. Сделайте акцент на выгодах, которые получает клиент от использования продукта по сравнению с другими способами решения тех же задач</a:t>
            </a:r>
          </a:p>
        </p:txBody>
      </p:sp>
    </p:spTree>
    <p:extLst>
      <p:ext uri="{BB962C8B-B14F-4D97-AF65-F5344CB8AC3E}">
        <p14:creationId xmlns:p14="http://schemas.microsoft.com/office/powerpoint/2010/main" val="3393085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79861" y="2033801"/>
            <a:ext cx="9356178" cy="2662486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289" name="Rectangle 1"/>
          <p:cNvSpPr>
            <a:spLocks noGrp="1"/>
          </p:cNvSpPr>
          <p:nvPr>
            <p:ph type="title"/>
          </p:nvPr>
        </p:nvSpPr>
        <p:spPr>
          <a:xfrm>
            <a:off x="666009" y="375788"/>
            <a:ext cx="10682711" cy="1079003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</a:rPr>
              <a:t>Стадия продаж и динамика количественных показателей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1038653" y="2271310"/>
            <a:ext cx="10244865" cy="2336201"/>
          </a:xfrm>
        </p:spPr>
        <p:txBody>
          <a:bodyPr>
            <a:normAutofit/>
          </a:bodyPr>
          <a:lstStyle/>
          <a:p>
            <a:pPr marL="361950" indent="-361950"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sym typeface="Helvetica Light" panose="020B0403020202020204" pitchFamily="34" charset="0"/>
              </a:rPr>
              <a:t>Если продаж не было – укажите, когда планируете начать, и что мешает сделать это прямо сейчас</a:t>
            </a:r>
          </a:p>
          <a:p>
            <a:pPr marL="361950" indent="-361950"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sym typeface="Helvetica Light" panose="020B0403020202020204" pitchFamily="34" charset="0"/>
              </a:rPr>
              <a:t>Если продажи есть – укажите количество клиентов, купивших продукт за все время его существования и приведите таблицу с количеством продаж и выручкой помесячно за 6 месяцев, предшествующих заполнению анкеты</a:t>
            </a:r>
          </a:p>
        </p:txBody>
      </p:sp>
    </p:spTree>
    <p:extLst>
      <p:ext uri="{BB962C8B-B14F-4D97-AF65-F5344CB8AC3E}">
        <p14:creationId xmlns:p14="http://schemas.microsoft.com/office/powerpoint/2010/main" val="28360582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79861" y="2033801"/>
            <a:ext cx="9356178" cy="1535022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289" name="Rectangle 1"/>
          <p:cNvSpPr>
            <a:spLocks noGrp="1"/>
          </p:cNvSpPr>
          <p:nvPr>
            <p:ph type="title"/>
          </p:nvPr>
        </p:nvSpPr>
        <p:spPr>
          <a:xfrm>
            <a:off x="666009" y="375788"/>
            <a:ext cx="10682711" cy="1079003"/>
          </a:xfrm>
        </p:spPr>
        <p:txBody>
          <a:bodyPr>
            <a:normAutofit/>
          </a:bodyPr>
          <a:lstStyle/>
          <a:p>
            <a:pPr algn="ctr"/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</a:rPr>
              <a:t>Динамика качественных показателей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idx="1"/>
          </p:nvPr>
        </p:nvSpPr>
        <p:spPr>
          <a:xfrm>
            <a:off x="1038653" y="2271310"/>
            <a:ext cx="10244865" cy="1297513"/>
          </a:xfrm>
        </p:spPr>
        <p:txBody>
          <a:bodyPr>
            <a:normAutofit/>
          </a:bodyPr>
          <a:lstStyle/>
          <a:p>
            <a:pPr marL="361950" indent="-361950"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sym typeface="Helvetica Light" panose="020B0403020202020204" pitchFamily="34" charset="0"/>
              </a:rPr>
              <a:t>Укажите, как давно существует проект и опишите изменения, произошедшие в проекте и команде за 6 месяцев, предшествующие подаче заявки на акселерацию</a:t>
            </a:r>
          </a:p>
        </p:txBody>
      </p:sp>
    </p:spTree>
    <p:extLst>
      <p:ext uri="{BB962C8B-B14F-4D97-AF65-F5344CB8AC3E}">
        <p14:creationId xmlns:p14="http://schemas.microsoft.com/office/powerpoint/2010/main" val="13427871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766761" y="3166330"/>
            <a:ext cx="10404575" cy="1096023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6762" y="2018581"/>
            <a:ext cx="10404575" cy="944466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766762" y="4517802"/>
            <a:ext cx="10404576" cy="1293962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41" name="Rectangle 1"/>
          <p:cNvSpPr>
            <a:spLocks noGrp="1"/>
          </p:cNvSpPr>
          <p:nvPr>
            <p:ph type="title"/>
          </p:nvPr>
        </p:nvSpPr>
        <p:spPr>
          <a:xfrm>
            <a:off x="656469" y="401800"/>
            <a:ext cx="11190091" cy="1048357"/>
          </a:xfrm>
        </p:spPr>
        <p:txBody>
          <a:bodyPr>
            <a:noAutofit/>
          </a:bodyPr>
          <a:lstStyle/>
          <a:p>
            <a:pPr eaLnBrk="1"/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</a:rPr>
              <a:t>Наличие конкурентного преимущества</a:t>
            </a:r>
          </a:p>
        </p:txBody>
      </p:sp>
      <p:sp>
        <p:nvSpPr>
          <p:cNvPr id="10242" name="Rectangle 2"/>
          <p:cNvSpPr>
            <a:spLocks noGrp="1"/>
          </p:cNvSpPr>
          <p:nvPr>
            <p:ph idx="1"/>
          </p:nvPr>
        </p:nvSpPr>
        <p:spPr>
          <a:xfrm>
            <a:off x="1043732" y="2280064"/>
            <a:ext cx="9378652" cy="536524"/>
          </a:xfrm>
        </p:spPr>
        <p:txBody>
          <a:bodyPr>
            <a:normAutofit/>
          </a:bodyPr>
          <a:lstStyle/>
          <a:p>
            <a:pPr marL="361950" indent="-361950" defTabSz="431608">
              <a:spcBef>
                <a:spcPts val="3094"/>
              </a:spcBef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укажите ключевых игроков на вашем рынке</a:t>
            </a:r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043732" y="3289616"/>
            <a:ext cx="9885937" cy="8655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defTabSz="431608">
              <a:lnSpc>
                <a:spcPct val="120000"/>
              </a:lnSpc>
              <a:spcBef>
                <a:spcPts val="3094"/>
              </a:spcBef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сравните продукт вашей компании с конкурирующими решениями по основным характеристикам, важным для клиента</a:t>
            </a:r>
          </a:p>
        </p:txBody>
      </p:sp>
      <p:sp>
        <p:nvSpPr>
          <p:cNvPr id="5" name="Rectangle 2"/>
          <p:cNvSpPr txBox="1">
            <a:spLocks/>
          </p:cNvSpPr>
          <p:nvPr/>
        </p:nvSpPr>
        <p:spPr>
          <a:xfrm>
            <a:off x="1043733" y="4665887"/>
            <a:ext cx="9885936" cy="997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defTabSz="431608">
              <a:lnSpc>
                <a:spcPct val="120000"/>
              </a:lnSpc>
              <a:spcBef>
                <a:spcPts val="3094"/>
              </a:spcBef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напишите основное конкурентное преимущество вашего продукта, укажите насколько сложно его повторить</a:t>
            </a:r>
          </a:p>
        </p:txBody>
      </p:sp>
    </p:spTree>
    <p:extLst>
      <p:ext uri="{BB962C8B-B14F-4D97-AF65-F5344CB8AC3E}">
        <p14:creationId xmlns:p14="http://schemas.microsoft.com/office/powerpoint/2010/main" val="1944718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66763" y="2600098"/>
            <a:ext cx="10024881" cy="1293962"/>
          </a:xfrm>
          <a:prstGeom prst="rect">
            <a:avLst/>
          </a:prstGeom>
          <a:gradFill>
            <a:gsLst>
              <a:gs pos="70000">
                <a:srgbClr val="EDEDED"/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265" name="Rectangle 1"/>
          <p:cNvSpPr>
            <a:spLocks noGrp="1"/>
          </p:cNvSpPr>
          <p:nvPr>
            <p:ph type="title"/>
          </p:nvPr>
        </p:nvSpPr>
        <p:spPr>
          <a:xfrm>
            <a:off x="653934" y="167220"/>
            <a:ext cx="10979266" cy="1522511"/>
          </a:xfrm>
        </p:spPr>
        <p:txBody>
          <a:bodyPr>
            <a:normAutofit/>
          </a:bodyPr>
          <a:lstStyle/>
          <a:p>
            <a:pPr eaLnBrk="1"/>
            <a:r>
              <a:rPr lang="ru-RU" altLang="ru-RU" sz="4000" dirty="0">
                <a:solidFill>
                  <a:srgbClr val="00ABEB"/>
                </a:solidFill>
                <a:latin typeface="PT Sans" panose="020B0503020203020204" pitchFamily="34" charset="0"/>
              </a:rPr>
              <a:t>Реально достижимый объем рынка</a:t>
            </a:r>
          </a:p>
        </p:txBody>
      </p:sp>
      <p:sp>
        <p:nvSpPr>
          <p:cNvPr id="11266" name="Rectangle 2"/>
          <p:cNvSpPr>
            <a:spLocks noGrp="1"/>
          </p:cNvSpPr>
          <p:nvPr>
            <p:ph idx="1"/>
          </p:nvPr>
        </p:nvSpPr>
        <p:spPr>
          <a:xfrm>
            <a:off x="1060062" y="2725180"/>
            <a:ext cx="7643991" cy="1043798"/>
          </a:xfrm>
        </p:spPr>
        <p:txBody>
          <a:bodyPr>
            <a:normAutofit/>
          </a:bodyPr>
          <a:lstStyle/>
          <a:p>
            <a:pPr marL="361950" indent="-361950">
              <a:lnSpc>
                <a:spcPct val="120000"/>
              </a:lnSpc>
              <a:buClr>
                <a:srgbClr val="00ABEB"/>
              </a:buClr>
              <a:buSzPct val="80000"/>
              <a:buFont typeface="Wingdings" panose="05000000000000000000" pitchFamily="2" charset="2"/>
              <a:buChar char="§"/>
            </a:pPr>
            <a:r>
              <a:rPr lang="ru-RU" altLang="ru-RU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</a:rPr>
              <a:t>укажите реально достижимый объем рынка через 5 лет с описанием логики расчета</a:t>
            </a:r>
            <a:endParaRPr lang="en-US" altLang="ru-RU" sz="2200" dirty="0">
              <a:solidFill>
                <a:schemeClr val="tx1">
                  <a:lumMod val="65000"/>
                  <a:lumOff val="35000"/>
                </a:schemeClr>
              </a:solidFill>
              <a:latin typeface="PT Sans" panose="020B0503020203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325" y="2241365"/>
            <a:ext cx="1373069" cy="13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5374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Core Sans C 55 Medium"/>
        <a:ea typeface=""/>
        <a:cs typeface=""/>
      </a:majorFont>
      <a:minorFont>
        <a:latin typeface="Core Sans C 35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187</Words>
  <Application>Microsoft Macintosh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PT Sans</vt:lpstr>
      <vt:lpstr>Core Sans C 55 Medium</vt:lpstr>
      <vt:lpstr>Wingdings</vt:lpstr>
      <vt:lpstr>Georgia</vt:lpstr>
      <vt:lpstr>Core Sans C 35 Light</vt:lpstr>
      <vt:lpstr>Тема Office</vt:lpstr>
      <vt:lpstr>Название вашего проекта</vt:lpstr>
      <vt:lpstr>Кейсы использования продукта</vt:lpstr>
      <vt:lpstr>Стадия продаж и динамика количественных показателей</vt:lpstr>
      <vt:lpstr>Динамика качественных показателей</vt:lpstr>
      <vt:lpstr>Наличие конкурентного преимущества</vt:lpstr>
      <vt:lpstr>Реально достижимый объем рынка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вашего проекта</dc:title>
  <dc:creator>ekala</dc:creator>
  <cp:lastModifiedBy>Алика Шпагина</cp:lastModifiedBy>
  <cp:revision>29</cp:revision>
  <dcterms:created xsi:type="dcterms:W3CDTF">2021-04-28T08:51:17Z</dcterms:created>
  <dcterms:modified xsi:type="dcterms:W3CDTF">2026-09-28T12:11:38Z</dcterms:modified>
</cp:coreProperties>
</file>